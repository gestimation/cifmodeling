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1567" r:id="rId2"/>
    <p:sldId id="1565" r:id="rId3"/>
    <p:sldId id="1568" r:id="rId4"/>
    <p:sldId id="1569" r:id="rId5"/>
    <p:sldId id="1566" r:id="rId6"/>
    <p:sldId id="1572" r:id="rId7"/>
    <p:sldId id="1570" r:id="rId8"/>
    <p:sldId id="1573" r:id="rId9"/>
    <p:sldId id="1556" r:id="rId10"/>
    <p:sldId id="1571" r:id="rId11"/>
    <p:sldId id="1553" r:id="rId12"/>
    <p:sldId id="1558" r:id="rId13"/>
    <p:sldId id="1557" r:id="rId14"/>
    <p:sldId id="1559" r:id="rId15"/>
    <p:sldId id="1554" r:id="rId16"/>
    <p:sldId id="1562" r:id="rId17"/>
    <p:sldId id="1561" r:id="rId18"/>
    <p:sldId id="1563" r:id="rId19"/>
    <p:sldId id="1560" r:id="rId20"/>
    <p:sldId id="1564" r:id="rId21"/>
    <p:sldId id="1574" r:id="rId22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7467D"/>
    <a:srgbClr val="668C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6791" autoAdjust="0"/>
  </p:normalViewPr>
  <p:slideViewPr>
    <p:cSldViewPr snapToGrid="0" showGuides="1">
      <p:cViewPr varScale="1">
        <p:scale>
          <a:sx n="78" d="100"/>
          <a:sy n="78" d="100"/>
        </p:scale>
        <p:origin x="96" y="1170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4" cy="513508"/>
          </a:xfrm>
          <a:prstGeom prst="rect">
            <a:avLst/>
          </a:prstGeom>
        </p:spPr>
        <p:txBody>
          <a:bodyPr vert="horz" lIns="94626" tIns="47312" rIns="94626" bIns="47312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1296" y="3"/>
            <a:ext cx="3076364" cy="513508"/>
          </a:xfrm>
          <a:prstGeom prst="rect">
            <a:avLst/>
          </a:prstGeom>
        </p:spPr>
        <p:txBody>
          <a:bodyPr vert="horz" lIns="94626" tIns="47312" rIns="94626" bIns="47312" rtlCol="0"/>
          <a:lstStyle>
            <a:lvl1pPr algn="r">
              <a:defRPr sz="1300"/>
            </a:lvl1pPr>
          </a:lstStyle>
          <a:p>
            <a:fld id="{0DFB47E9-4361-46B2-A7D1-8BA40029D74D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4" cy="513507"/>
          </a:xfrm>
          <a:prstGeom prst="rect">
            <a:avLst/>
          </a:prstGeom>
        </p:spPr>
        <p:txBody>
          <a:bodyPr vert="horz" lIns="94626" tIns="47312" rIns="94626" bIns="47312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1296" y="9721107"/>
            <a:ext cx="3076364" cy="513507"/>
          </a:xfrm>
          <a:prstGeom prst="rect">
            <a:avLst/>
          </a:prstGeom>
        </p:spPr>
        <p:txBody>
          <a:bodyPr vert="horz" lIns="94626" tIns="47312" rIns="94626" bIns="47312" rtlCol="0" anchor="b"/>
          <a:lstStyle>
            <a:lvl1pPr algn="r">
              <a:defRPr sz="1300"/>
            </a:lvl1pPr>
          </a:lstStyle>
          <a:p>
            <a:fld id="{E279744D-1C23-48B9-8D33-12A167A809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6746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4" cy="511731"/>
          </a:xfrm>
          <a:prstGeom prst="rect">
            <a:avLst/>
          </a:prstGeom>
        </p:spPr>
        <p:txBody>
          <a:bodyPr vert="horz" lIns="94626" tIns="47312" rIns="94626" bIns="47312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4" cy="511731"/>
          </a:xfrm>
          <a:prstGeom prst="rect">
            <a:avLst/>
          </a:prstGeom>
        </p:spPr>
        <p:txBody>
          <a:bodyPr vert="horz" lIns="94626" tIns="47312" rIns="94626" bIns="47312" rtlCol="0"/>
          <a:lstStyle>
            <a:lvl1pPr algn="r">
              <a:defRPr sz="1300"/>
            </a:lvl1pPr>
          </a:lstStyle>
          <a:p>
            <a:fld id="{D6FA193B-AC80-49CF-AD5F-5200027894E9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6" tIns="47312" rIns="94626" bIns="4731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4626" tIns="47312" rIns="94626" bIns="4731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4" cy="511731"/>
          </a:xfrm>
          <a:prstGeom prst="rect">
            <a:avLst/>
          </a:prstGeom>
        </p:spPr>
        <p:txBody>
          <a:bodyPr vert="horz" lIns="94626" tIns="47312" rIns="94626" bIns="47312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6" y="9721106"/>
            <a:ext cx="3076364" cy="511731"/>
          </a:xfrm>
          <a:prstGeom prst="rect">
            <a:avLst/>
          </a:prstGeom>
        </p:spPr>
        <p:txBody>
          <a:bodyPr vert="horz" lIns="94626" tIns="47312" rIns="94626" bIns="47312" rtlCol="0" anchor="b"/>
          <a:lstStyle>
            <a:lvl1pPr algn="r">
              <a:defRPr sz="1300"/>
            </a:lvl1pPr>
          </a:lstStyle>
          <a:p>
            <a:fld id="{A6E8E1EB-2CF8-4F4B-854D-E7A20CF9AF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7655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880E9-C3BE-4BA1-AB99-F26F9488C3F1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48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4DD0-1A27-4AA2-8175-1A8B8B1C102A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2400"/>
            </a:lvl1pPr>
          </a:lstStyle>
          <a:p>
            <a:fld id="{4C716446-2BA7-46D5-B257-208E5A0D38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309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1FE1-4DF3-4E68-A1D3-2205A7973D18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414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5B64-EE4B-419A-AD97-4CA9E5E24CAB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9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F346-C282-4036-8D48-E4692D5B2D25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39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1E82-10D1-4FBD-8EA2-3EE23DCB3432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39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BE356-7737-443B-B92B-5A1D35765622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25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1AAC-3B34-4038-9A3D-3FB7E950D913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32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23ED-80F1-4BB8-9290-F7535C2701A1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67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ABB32-AF60-496E-953E-A17641565E89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15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56F4-35FA-473D-BC42-D71292067CCB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23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33167-9F65-4282-8204-DEDE54848033}" type="datetime1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16446-2BA7-46D5-B257-208E5A0D38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4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772BF-677A-4A15-9613-579EC37A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</a:t>
            </a:r>
            <a:r>
              <a:rPr kumimoji="1" lang="ja-JP" altLang="en-US" dirty="0"/>
              <a:t>パッケージ開発に有用なツール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F7B8A1-3DCE-4103-BF1B-DB659CC57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パッケージ</a:t>
            </a:r>
            <a:r>
              <a:rPr kumimoji="1" lang="en-US" altLang="ja-JP" dirty="0" err="1"/>
              <a:t>devtools</a:t>
            </a:r>
            <a:endParaRPr kumimoji="1" lang="en-US" altLang="ja-JP" dirty="0"/>
          </a:p>
          <a:p>
            <a:r>
              <a:rPr lang="en-US" altLang="ja-JP" dirty="0"/>
              <a:t>GitHub</a:t>
            </a:r>
            <a:r>
              <a:rPr lang="ja-JP" altLang="en-US" dirty="0"/>
              <a:t>レポジトリ</a:t>
            </a:r>
            <a:endParaRPr lang="en-US" altLang="ja-JP" dirty="0"/>
          </a:p>
          <a:p>
            <a:r>
              <a:rPr lang="en-US" altLang="ja-JP" dirty="0"/>
              <a:t>roxygen2</a:t>
            </a:r>
          </a:p>
          <a:p>
            <a:r>
              <a:rPr lang="ja-JP" altLang="en-US" dirty="0"/>
              <a:t>任意の生成</a:t>
            </a:r>
            <a:r>
              <a:rPr lang="en-US" altLang="ja-JP" dirty="0"/>
              <a:t>AI</a:t>
            </a:r>
          </a:p>
          <a:p>
            <a:pPr lvl="1"/>
            <a:r>
              <a:rPr kumimoji="1" lang="en-US" altLang="ja-JP" dirty="0" err="1"/>
              <a:t>Rstudio</a:t>
            </a:r>
            <a:r>
              <a:rPr kumimoji="1" lang="ja-JP" altLang="en-US" dirty="0"/>
              <a:t>のエディターでは</a:t>
            </a:r>
            <a:r>
              <a:rPr kumimoji="1" lang="en-US" altLang="ja-JP" dirty="0"/>
              <a:t>, GitHub copilot</a:t>
            </a:r>
            <a:r>
              <a:rPr kumimoji="1" lang="ja-JP" altLang="en-US" dirty="0"/>
              <a:t>を利用することができ</a:t>
            </a:r>
            <a:r>
              <a:rPr kumimoji="1" lang="en-US" altLang="ja-JP" dirty="0"/>
              <a:t>, </a:t>
            </a:r>
            <a:r>
              <a:rPr kumimoji="1" lang="ja-JP" altLang="en-US" dirty="0"/>
              <a:t>　　　次に書くべきコードを提案してくれる</a:t>
            </a:r>
            <a:r>
              <a:rPr kumimoji="1" lang="en-US" altLang="ja-JP" dirty="0"/>
              <a:t> </a:t>
            </a:r>
          </a:p>
          <a:p>
            <a:pPr lvl="1"/>
            <a:r>
              <a:rPr lang="ja-JP" altLang="en-US" dirty="0"/>
              <a:t>しかしこの機能は</a:t>
            </a:r>
            <a:r>
              <a:rPr lang="en-US" altLang="ja-JP" dirty="0"/>
              <a:t>, </a:t>
            </a:r>
            <a:r>
              <a:rPr lang="ja-JP" altLang="en-US" dirty="0"/>
              <a:t>コンテキストを理解する能力が低いようである</a:t>
            </a:r>
            <a:endParaRPr lang="en-US" altLang="ja-JP" dirty="0"/>
          </a:p>
          <a:p>
            <a:pPr lvl="1"/>
            <a:r>
              <a:rPr kumimoji="1" lang="ja-JP" altLang="en-US" dirty="0"/>
              <a:t>質の高いプロンプトを与える方が有用である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3670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009955-77B5-4FAA-A5B7-2B62EC124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役に立ったアプローチ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935D4F-0D5C-4DC7-A87E-390DA0E1D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 err="1"/>
              <a:t>devtools</a:t>
            </a:r>
            <a:r>
              <a:rPr lang="ja-JP" altLang="en-US" dirty="0" err="1"/>
              <a:t>が提</a:t>
            </a:r>
            <a:r>
              <a:rPr lang="ja-JP" altLang="en-US" dirty="0"/>
              <a:t>供する</a:t>
            </a:r>
            <a:r>
              <a:rPr lang="en-US" altLang="ja-JP" dirty="0" err="1"/>
              <a:t>testthat</a:t>
            </a:r>
            <a:r>
              <a:rPr lang="en-US" altLang="ja-JP" dirty="0"/>
              <a:t>()</a:t>
            </a:r>
            <a:r>
              <a:rPr lang="ja-JP" altLang="en-US" dirty="0"/>
              <a:t>による動作検証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プロットの入出力・ロジックは</a:t>
            </a:r>
            <a:r>
              <a:rPr lang="en-US" altLang="ja-JP" dirty="0"/>
              <a:t>ggplot2</a:t>
            </a:r>
            <a:r>
              <a:rPr lang="ja-JP" altLang="en-US" dirty="0"/>
              <a:t>の文法に従う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統計量の入出力・ロジックは</a:t>
            </a:r>
            <a:r>
              <a:rPr lang="en-US" altLang="ja-JP" dirty="0" err="1"/>
              <a:t>survfit</a:t>
            </a:r>
            <a:r>
              <a:rPr lang="ja-JP" altLang="en-US" dirty="0"/>
              <a:t>の文法に従う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GitHub</a:t>
            </a:r>
            <a:r>
              <a:rPr lang="ja-JP" altLang="en-US" dirty="0"/>
              <a:t>ブランチによるバックアップ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広範囲の影響の小さい修正は</a:t>
            </a:r>
            <a:r>
              <a:rPr kumimoji="1" lang="en-US" altLang="ja-JP" dirty="0"/>
              <a:t>Codex </a:t>
            </a:r>
            <a:r>
              <a:rPr kumimoji="1" lang="en-US" altLang="ja-JP" dirty="0" err="1"/>
              <a:t>CLI</a:t>
            </a:r>
            <a:r>
              <a:rPr lang="en-US" altLang="ja-JP" dirty="0" err="1"/>
              <a:t>+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を利用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MIT</a:t>
            </a:r>
            <a:r>
              <a:rPr lang="ja-JP" altLang="en-US" dirty="0"/>
              <a:t>ライセンス（</a:t>
            </a:r>
            <a:r>
              <a:rPr lang="en-US" altLang="ja-JP" dirty="0"/>
              <a:t>GPL</a:t>
            </a:r>
            <a:r>
              <a:rPr lang="ja-JP" altLang="en-US" dirty="0"/>
              <a:t>ライセンスのパッケージに依存しない）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1852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D6345D-6207-455A-9DF2-A6EB0533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パッケージ作成と</a:t>
            </a:r>
            <a:r>
              <a:rPr lang="en-US" altLang="ja-JP" dirty="0"/>
              <a:t>GitHub</a:t>
            </a:r>
            <a:r>
              <a:rPr lang="ja-JP" altLang="en-US" dirty="0"/>
              <a:t>連携の手続き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40A7DD-083B-41BB-A6E6-F95920D8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R</a:t>
            </a:r>
            <a:r>
              <a:rPr lang="ja-JP" altLang="en-US" dirty="0"/>
              <a:t>コード</a:t>
            </a:r>
            <a:endParaRPr lang="en-US" altLang="ja-JP" dirty="0"/>
          </a:p>
          <a:p>
            <a:pPr lvl="1"/>
            <a:r>
              <a:rPr lang="en-US" altLang="ja-JP" dirty="0" err="1"/>
              <a:t>install.packages</a:t>
            </a:r>
            <a:r>
              <a:rPr lang="en-US" altLang="ja-JP" dirty="0"/>
              <a:t>("</a:t>
            </a:r>
            <a:r>
              <a:rPr lang="en-US" altLang="ja-JP" dirty="0" err="1"/>
              <a:t>devtools</a:t>
            </a:r>
            <a:r>
              <a:rPr lang="en-US" altLang="ja-JP" dirty="0"/>
              <a:t>")</a:t>
            </a:r>
          </a:p>
          <a:p>
            <a:pPr lvl="1"/>
            <a:r>
              <a:rPr lang="en-US" altLang="ja-JP" dirty="0"/>
              <a:t>library(</a:t>
            </a:r>
            <a:r>
              <a:rPr lang="en-US" altLang="ja-JP" dirty="0" err="1"/>
              <a:t>devtools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 err="1"/>
              <a:t>create_package</a:t>
            </a:r>
            <a:r>
              <a:rPr lang="en-US" altLang="ja-JP" dirty="0"/>
              <a:t>("&lt;path of R project&gt;")</a:t>
            </a:r>
          </a:p>
          <a:p>
            <a:pPr lvl="1"/>
            <a:r>
              <a:rPr lang="en-US" altLang="ja-JP" dirty="0" err="1"/>
              <a:t>use_mit_license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use_git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use_github</a:t>
            </a:r>
            <a:r>
              <a:rPr lang="en-US" altLang="ja-JP" dirty="0"/>
              <a:t>()</a:t>
            </a:r>
          </a:p>
          <a:p>
            <a:r>
              <a:rPr lang="en-US" altLang="ja-JP" dirty="0"/>
              <a:t>GitHub</a:t>
            </a:r>
            <a:r>
              <a:rPr lang="ja-JP" altLang="en-US" dirty="0"/>
              <a:t>アカウント設定</a:t>
            </a:r>
            <a:endParaRPr lang="en-US" altLang="ja-JP" dirty="0"/>
          </a:p>
          <a:p>
            <a:pPr lvl="1"/>
            <a:r>
              <a:rPr lang="en-US" altLang="ja-JP" dirty="0"/>
              <a:t>system("git config --global user.name 'Your Name’”)</a:t>
            </a:r>
          </a:p>
          <a:p>
            <a:pPr lvl="1"/>
            <a:r>
              <a:rPr lang="en-US" altLang="ja-JP" dirty="0"/>
              <a:t>system("git config --global </a:t>
            </a:r>
            <a:r>
              <a:rPr lang="en-US" altLang="ja-JP" dirty="0" err="1"/>
              <a:t>user.email</a:t>
            </a:r>
            <a:r>
              <a:rPr lang="en-US" altLang="ja-JP" dirty="0"/>
              <a:t> 'youremail@example.com’”)</a:t>
            </a:r>
          </a:p>
          <a:p>
            <a:pPr lvl="1"/>
            <a:r>
              <a:rPr lang="en-US" altLang="ja-JP" dirty="0"/>
              <a:t>system("git config user.name 'Your Name’”)</a:t>
            </a:r>
          </a:p>
          <a:p>
            <a:pPr lvl="1"/>
            <a:r>
              <a:rPr lang="en-US" altLang="ja-JP" dirty="0"/>
              <a:t>system("git config </a:t>
            </a:r>
            <a:r>
              <a:rPr lang="en-US" altLang="ja-JP" dirty="0" err="1"/>
              <a:t>user.email</a:t>
            </a:r>
            <a:r>
              <a:rPr lang="en-US" altLang="ja-JP" dirty="0"/>
              <a:t> 'youremail@example.com’”)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06F9DDE-4CBE-4223-B61E-89879ED978A7}"/>
              </a:ext>
            </a:extLst>
          </p:cNvPr>
          <p:cNvSpPr/>
          <p:nvPr/>
        </p:nvSpPr>
        <p:spPr>
          <a:xfrm>
            <a:off x="0" y="6488668"/>
            <a:ext cx="11257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ja-JP" dirty="0"/>
              <a:t>*</a:t>
            </a:r>
            <a:r>
              <a:rPr kumimoji="1" lang="ja-JP" altLang="en-US" dirty="0"/>
              <a:t>一部の生成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は</a:t>
            </a:r>
            <a:r>
              <a:rPr kumimoji="1" lang="en-US" altLang="ja-JP" dirty="0"/>
              <a:t>, GitHub</a:t>
            </a:r>
            <a:r>
              <a:rPr lang="ja-JP" altLang="en-US" dirty="0"/>
              <a:t>を経由して</a:t>
            </a:r>
            <a:r>
              <a:rPr lang="en-US" altLang="ja-JP" dirty="0"/>
              <a:t>, R</a:t>
            </a:r>
            <a:r>
              <a:rPr lang="ja-JP" altLang="en-US" dirty="0"/>
              <a:t>コードの自動生成を行う</a:t>
            </a:r>
          </a:p>
        </p:txBody>
      </p:sp>
    </p:spTree>
    <p:extLst>
      <p:ext uri="{BB962C8B-B14F-4D97-AF65-F5344CB8AC3E}">
        <p14:creationId xmlns:p14="http://schemas.microsoft.com/office/powerpoint/2010/main" val="213514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1A64C4-AB45-4A24-AA0A-0F693ABB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roxygen2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C1E9A4-CCB5-4F27-90C0-CC8B38FB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ドキュメント自動生成・名前空間管理の仕組み</a:t>
            </a:r>
            <a:endParaRPr lang="en-US" altLang="ja-JP" dirty="0"/>
          </a:p>
          <a:p>
            <a:pPr lvl="1"/>
            <a:r>
              <a:rPr lang="en-US" altLang="ja-JP" dirty="0"/>
              <a:t>man</a:t>
            </a:r>
            <a:r>
              <a:rPr lang="ja-JP" altLang="en-US" dirty="0"/>
              <a:t>ディレクトリ内の</a:t>
            </a:r>
            <a:r>
              <a:rPr lang="en-US" altLang="ja-JP" dirty="0"/>
              <a:t>.Rd</a:t>
            </a:r>
            <a:r>
              <a:rPr lang="ja-JP" altLang="en-US" dirty="0"/>
              <a:t>ファイル</a:t>
            </a:r>
            <a:endParaRPr lang="en-US" altLang="ja-JP" dirty="0"/>
          </a:p>
          <a:p>
            <a:pPr lvl="1"/>
            <a:r>
              <a:rPr lang="en-US" altLang="ja-JP" dirty="0"/>
              <a:t>?</a:t>
            </a:r>
            <a:r>
              <a:rPr lang="ja-JP" altLang="en-US" dirty="0"/>
              <a:t>関数名</a:t>
            </a:r>
            <a:endParaRPr lang="en-US" altLang="ja-JP" dirty="0"/>
          </a:p>
          <a:p>
            <a:pPr lvl="1"/>
            <a:r>
              <a:rPr lang="en-US" altLang="ja-JP" dirty="0"/>
              <a:t>NAMESPACE</a:t>
            </a:r>
            <a:r>
              <a:rPr lang="ja-JP" altLang="en-US" dirty="0" err="1"/>
              <a:t>への</a:t>
            </a:r>
            <a:r>
              <a:rPr lang="ja-JP" altLang="en-US" dirty="0"/>
              <a:t>反映</a:t>
            </a:r>
            <a:endParaRPr lang="en-US" altLang="ja-JP" dirty="0"/>
          </a:p>
          <a:p>
            <a:r>
              <a:rPr lang="ja-JP" altLang="en-US" dirty="0"/>
              <a:t>主な使用方法</a:t>
            </a:r>
            <a:endParaRPr lang="en-US" altLang="ja-JP" dirty="0"/>
          </a:p>
          <a:p>
            <a:pPr lvl="1"/>
            <a:r>
              <a:rPr lang="en-US" altLang="ja-JP" dirty="0"/>
              <a:t>RStudio</a:t>
            </a:r>
            <a:r>
              <a:rPr lang="ja-JP" altLang="en-US" dirty="0"/>
              <a:t>右上</a:t>
            </a:r>
            <a:r>
              <a:rPr lang="en-US" altLang="ja-JP" dirty="0"/>
              <a:t>Code</a:t>
            </a:r>
            <a:r>
              <a:rPr lang="ja-JP" altLang="en-US" dirty="0"/>
              <a:t>メニュー</a:t>
            </a:r>
            <a:r>
              <a:rPr lang="en-US" altLang="ja-JP" dirty="0"/>
              <a:t>Insert </a:t>
            </a:r>
            <a:r>
              <a:rPr lang="en-US" altLang="ja-JP" dirty="0" err="1"/>
              <a:t>Roxygen</a:t>
            </a:r>
            <a:r>
              <a:rPr lang="en-US" altLang="ja-JP" dirty="0"/>
              <a:t> Skeleton</a:t>
            </a:r>
            <a:r>
              <a:rPr lang="ja-JP" altLang="en-US" dirty="0"/>
              <a:t>による初期設定</a:t>
            </a:r>
            <a:endParaRPr lang="en-US" altLang="ja-JP" dirty="0"/>
          </a:p>
          <a:p>
            <a:pPr lvl="1"/>
            <a:r>
              <a:rPr lang="ja-JP" altLang="en-US" dirty="0"/>
              <a:t>関数ごとのヘッダー情報の作成</a:t>
            </a:r>
            <a:endParaRPr lang="en-US" altLang="ja-JP" dirty="0"/>
          </a:p>
          <a:p>
            <a:pPr lvl="1"/>
            <a:r>
              <a:rPr lang="en-US" altLang="ja-JP" dirty="0"/>
              <a:t>document()</a:t>
            </a:r>
            <a:r>
              <a:rPr lang="ja-JP" altLang="en-US" dirty="0"/>
              <a:t>の実行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1718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D1223-F620-48B0-87E7-393277D0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roxygen2</a:t>
            </a:r>
            <a:r>
              <a:rPr lang="ja-JP" altLang="en-US" dirty="0"/>
              <a:t>のヘッダー情報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D10A0-F1FE-457D-9DE9-79087D54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ユーザーへ伝える情報（内部情報は書かなくてよい）</a:t>
            </a:r>
            <a:endParaRPr kumimoji="1" lang="en-US" altLang="ja-JP" dirty="0"/>
          </a:p>
          <a:p>
            <a:r>
              <a:rPr kumimoji="1" lang="en-US" altLang="ja-JP" dirty="0"/>
              <a:t>check()</a:t>
            </a:r>
            <a:r>
              <a:rPr kumimoji="1" lang="ja-JP" altLang="en-US" dirty="0"/>
              <a:t>の対象</a:t>
            </a:r>
            <a:endParaRPr kumimoji="1" lang="en-US" altLang="ja-JP" dirty="0"/>
          </a:p>
          <a:p>
            <a:r>
              <a:rPr lang="en-US" altLang="ja-JP" dirty="0"/>
              <a:t>@name, @aliases</a:t>
            </a:r>
          </a:p>
          <a:p>
            <a:r>
              <a:rPr lang="en-US" altLang="ja-JP" dirty="0"/>
              <a:t>@param, @return</a:t>
            </a:r>
            <a:endParaRPr kumimoji="1" lang="en-US" altLang="ja-JP" dirty="0"/>
          </a:p>
          <a:p>
            <a:r>
              <a:rPr lang="en-US" altLang="ja-JP" dirty="0"/>
              <a:t>@export</a:t>
            </a:r>
          </a:p>
          <a:p>
            <a:r>
              <a:rPr lang="en-US" altLang="ja-JP" dirty="0"/>
              <a:t>@</a:t>
            </a:r>
            <a:r>
              <a:rPr lang="en-US" altLang="ja-JP" dirty="0" err="1"/>
              <a:t>importFrom</a:t>
            </a:r>
            <a:endParaRPr lang="en-US" altLang="ja-JP" dirty="0"/>
          </a:p>
          <a:p>
            <a:r>
              <a:rPr lang="en-US" altLang="ja-JP" dirty="0"/>
              <a:t>@</a:t>
            </a:r>
            <a:r>
              <a:rPr lang="en-US" altLang="ja-JP" dirty="0" err="1"/>
              <a:t>noRD</a:t>
            </a:r>
            <a:r>
              <a:rPr lang="en-US" altLang="ja-JP" dirty="0"/>
              <a:t>, @</a:t>
            </a:r>
            <a:r>
              <a:rPr lang="en-US" altLang="ja-JP" dirty="0" err="1"/>
              <a:t>rdname</a:t>
            </a:r>
            <a:endParaRPr lang="en-US" altLang="ja-JP" dirty="0"/>
          </a:p>
          <a:p>
            <a:pPr lvl="1"/>
            <a:r>
              <a:rPr lang="en-US" altLang="ja-JP" dirty="0"/>
              <a:t>Rd</a:t>
            </a:r>
            <a:r>
              <a:rPr lang="ja-JP" altLang="en-US" dirty="0"/>
              <a:t>ファイルの管理を避けたいことは多い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216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407190-9083-41F3-A082-DDA2FE45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マニュアル作成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64D353-D2F4-49A7-B583-DEB069EAA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document()</a:t>
            </a:r>
          </a:p>
          <a:p>
            <a:r>
              <a:rPr kumimoji="1" lang="en-US" altLang="ja-JP" dirty="0" err="1"/>
              <a:t>use_readme_rmd</a:t>
            </a:r>
            <a:r>
              <a:rPr kumimoji="1" lang="en-US" altLang="ja-JP" dirty="0"/>
              <a:t>()</a:t>
            </a:r>
          </a:p>
          <a:p>
            <a:r>
              <a:rPr lang="en-US" altLang="ja-JP" dirty="0" err="1"/>
              <a:t>build_readme</a:t>
            </a:r>
            <a:r>
              <a:rPr lang="en-US" altLang="ja-JP" dirty="0"/>
              <a:t>()</a:t>
            </a:r>
          </a:p>
          <a:p>
            <a:r>
              <a:rPr lang="en-US" altLang="ja-JP" dirty="0" err="1"/>
              <a:t>build_vignettes</a:t>
            </a:r>
            <a:r>
              <a:rPr lang="en-US" altLang="ja-JP" dirty="0"/>
              <a:t>()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447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B9F38-0A1F-4858-885F-DB04BDA9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testthat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5BA6C-2919-4E28-A510-6321DE2D6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主な使用方法</a:t>
            </a:r>
            <a:endParaRPr kumimoji="1" lang="en-US" altLang="ja-JP" dirty="0"/>
          </a:p>
          <a:p>
            <a:pPr lvl="1"/>
            <a:r>
              <a:rPr lang="en-US" altLang="ja-JP" dirty="0" err="1"/>
              <a:t>use_testthat</a:t>
            </a:r>
            <a:r>
              <a:rPr lang="en-US" altLang="ja-JP" dirty="0"/>
              <a:t>()</a:t>
            </a:r>
            <a:r>
              <a:rPr lang="ja-JP" altLang="en-US" dirty="0"/>
              <a:t>による初期設定</a:t>
            </a:r>
            <a:endParaRPr lang="en-US" altLang="ja-JP" dirty="0"/>
          </a:p>
          <a:p>
            <a:pPr lvl="1"/>
            <a:r>
              <a:rPr lang="en-US" altLang="ja-JP" dirty="0"/>
              <a:t>tests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testthat</a:t>
            </a:r>
            <a:r>
              <a:rPr kumimoji="1" lang="ja-JP" altLang="en-US" dirty="0"/>
              <a:t>ディレクトリ内</a:t>
            </a:r>
            <a:r>
              <a:rPr kumimoji="1" lang="en-US" altLang="ja-JP" dirty="0"/>
              <a:t>R</a:t>
            </a:r>
            <a:r>
              <a:rPr kumimoji="1" lang="ja-JP" altLang="en-US" dirty="0"/>
              <a:t>スクリプトに</a:t>
            </a:r>
            <a:r>
              <a:rPr kumimoji="1" lang="en-US" altLang="ja-JP" dirty="0" err="1"/>
              <a:t>testthat</a:t>
            </a:r>
            <a:r>
              <a:rPr lang="en-US" altLang="ja-JP" dirty="0"/>
              <a:t>()</a:t>
            </a:r>
            <a:r>
              <a:rPr kumimoji="1" lang="ja-JP" altLang="en-US" dirty="0"/>
              <a:t>を作成</a:t>
            </a:r>
            <a:endParaRPr kumimoji="1" lang="en-US" altLang="ja-JP" dirty="0"/>
          </a:p>
          <a:p>
            <a:r>
              <a:rPr kumimoji="1" lang="ja-JP" altLang="en-US" dirty="0"/>
              <a:t>ワークフローの一例</a:t>
            </a:r>
            <a:endParaRPr kumimoji="1" lang="en-US" altLang="ja-JP" dirty="0"/>
          </a:p>
          <a:p>
            <a:pPr lvl="1"/>
            <a:r>
              <a:rPr lang="en-US" altLang="ja-JP" dirty="0"/>
              <a:t>R</a:t>
            </a:r>
            <a:r>
              <a:rPr lang="ja-JP" altLang="en-US" dirty="0"/>
              <a:t>上での関数のコーディング</a:t>
            </a:r>
            <a:endParaRPr lang="en-US" altLang="ja-JP" dirty="0"/>
          </a:p>
          <a:p>
            <a:pPr lvl="1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に</a:t>
            </a:r>
            <a:r>
              <a:rPr lang="en-US" altLang="ja-JP" dirty="0"/>
              <a:t>R</a:t>
            </a:r>
            <a:r>
              <a:rPr lang="ja-JP" altLang="en-US" dirty="0"/>
              <a:t>コードを与えて</a:t>
            </a:r>
            <a:r>
              <a:rPr lang="en-US" altLang="ja-JP" dirty="0"/>
              <a:t>, </a:t>
            </a:r>
            <a:r>
              <a:rPr lang="en-US" altLang="ja-JP" dirty="0" err="1"/>
              <a:t>testthat</a:t>
            </a:r>
            <a:r>
              <a:rPr lang="en-US" altLang="ja-JP" dirty="0"/>
              <a:t>()</a:t>
            </a:r>
            <a:r>
              <a:rPr lang="ja-JP" altLang="en-US" dirty="0"/>
              <a:t>のコードを生成</a:t>
            </a:r>
            <a:endParaRPr lang="en-US" altLang="ja-JP" dirty="0"/>
          </a:p>
          <a:p>
            <a:pPr lvl="1"/>
            <a:r>
              <a:rPr kumimoji="1" lang="en-US" altLang="ja-JP" dirty="0"/>
              <a:t>test()</a:t>
            </a:r>
            <a:r>
              <a:rPr kumimoji="1" lang="ja-JP" altLang="en-US" dirty="0"/>
              <a:t>による関数の動作検証</a:t>
            </a:r>
            <a:endParaRPr kumimoji="1" lang="en-US" altLang="ja-JP" dirty="0"/>
          </a:p>
          <a:p>
            <a:pPr lvl="1"/>
            <a:r>
              <a:rPr lang="en-US" altLang="ja-JP" dirty="0" err="1"/>
              <a:t>skip_on_cran</a:t>
            </a:r>
            <a:r>
              <a:rPr lang="en-US" altLang="ja-JP" dirty="0"/>
              <a:t>()</a:t>
            </a:r>
            <a:r>
              <a:rPr lang="ja-JP" altLang="en-US" dirty="0"/>
              <a:t>が必要かどうか判断</a:t>
            </a:r>
            <a:endParaRPr kumimoji="1" lang="en-US" altLang="ja-JP" dirty="0"/>
          </a:p>
          <a:p>
            <a:r>
              <a:rPr lang="ja-JP" altLang="en-US" dirty="0"/>
              <a:t>人間が</a:t>
            </a:r>
            <a:r>
              <a:rPr lang="en-US" altLang="ja-JP" dirty="0" err="1"/>
              <a:t>testthat</a:t>
            </a:r>
            <a:r>
              <a:rPr lang="en-US" altLang="ja-JP" dirty="0"/>
              <a:t>()</a:t>
            </a:r>
            <a:r>
              <a:rPr lang="ja-JP" altLang="en-US" dirty="0"/>
              <a:t>を書くより</a:t>
            </a:r>
            <a:r>
              <a:rPr lang="en-US" altLang="ja-JP" dirty="0"/>
              <a:t>, </a:t>
            </a:r>
            <a:r>
              <a:rPr lang="ja-JP" altLang="en-US" dirty="0"/>
              <a:t>テストの網羅性が高い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457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B9F38-0A1F-4858-885F-DB04BDA9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check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5BA6C-2919-4E28-A510-6321DE2D6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コード構造・依存関係・</a:t>
            </a:r>
            <a:r>
              <a:rPr lang="en-US" altLang="ja-JP" dirty="0"/>
              <a:t>CRAN</a:t>
            </a:r>
            <a:r>
              <a:rPr lang="ja-JP" altLang="en-US" dirty="0"/>
              <a:t>ポリシー遵守の検証</a:t>
            </a:r>
            <a:endParaRPr lang="en-US" altLang="ja-JP" dirty="0"/>
          </a:p>
          <a:p>
            <a:r>
              <a:rPr lang="ja-JP" altLang="en-US" dirty="0"/>
              <a:t>内部で</a:t>
            </a:r>
            <a:r>
              <a:rPr lang="en-US" altLang="ja-JP" dirty="0"/>
              <a:t>R CMD check</a:t>
            </a:r>
            <a:r>
              <a:rPr lang="ja-JP" altLang="en-US" dirty="0"/>
              <a:t>を実行</a:t>
            </a:r>
            <a:endParaRPr lang="en-US" altLang="ja-JP" dirty="0"/>
          </a:p>
          <a:p>
            <a:r>
              <a:rPr lang="ja-JP" altLang="en-US" dirty="0"/>
              <a:t>主</a:t>
            </a:r>
            <a:r>
              <a:rPr kumimoji="1" lang="ja-JP" altLang="en-US" dirty="0"/>
              <a:t>な使用方法</a:t>
            </a:r>
            <a:endParaRPr kumimoji="1" lang="en-US" altLang="ja-JP" dirty="0"/>
          </a:p>
          <a:p>
            <a:pPr lvl="1"/>
            <a:r>
              <a:rPr lang="en-US" altLang="ja-JP" dirty="0"/>
              <a:t>check(</a:t>
            </a:r>
            <a:r>
              <a:rPr lang="en-US" altLang="ja-JP" dirty="0" err="1"/>
              <a:t>cran</a:t>
            </a:r>
            <a:r>
              <a:rPr lang="en-US" altLang="ja-JP" dirty="0"/>
              <a:t>=TRUE, vignettes=FALSE, manual=FALSE, </a:t>
            </a:r>
            <a:r>
              <a:rPr lang="en-US" altLang="ja-JP" dirty="0" err="1"/>
              <a:t>run_dont_test</a:t>
            </a:r>
            <a:r>
              <a:rPr lang="en-US" altLang="ja-JP" dirty="0"/>
              <a:t>=FALSE)</a:t>
            </a:r>
          </a:p>
          <a:p>
            <a:pPr lvl="1"/>
            <a:r>
              <a:rPr lang="en-US" altLang="ja-JP" dirty="0"/>
              <a:t>.</a:t>
            </a:r>
            <a:r>
              <a:rPr lang="en-US" altLang="ja-JP" dirty="0" err="1"/>
              <a:t>github</a:t>
            </a:r>
            <a:r>
              <a:rPr lang="en-US" altLang="ja-JP" dirty="0"/>
              <a:t>/workflows/R-CMD-</a:t>
            </a:r>
            <a:r>
              <a:rPr lang="en-US" altLang="ja-JP" dirty="0" err="1"/>
              <a:t>check.yaml</a:t>
            </a:r>
            <a:r>
              <a:rPr lang="ja-JP" altLang="en-US" dirty="0"/>
              <a:t>の設定</a:t>
            </a:r>
            <a:endParaRPr lang="en-US" altLang="ja-JP" dirty="0"/>
          </a:p>
          <a:p>
            <a:pPr lvl="1"/>
            <a:r>
              <a:rPr lang="ja-JP" altLang="en-US" dirty="0"/>
              <a:t>ワーニングがゼロになるまで修正</a:t>
            </a:r>
            <a:endParaRPr lang="en-US" altLang="ja-JP" dirty="0"/>
          </a:p>
          <a:p>
            <a:r>
              <a:rPr lang="en-US" altLang="ja-JP" dirty="0"/>
              <a:t>CRAN</a:t>
            </a:r>
            <a:r>
              <a:rPr lang="ja-JP" altLang="en-US" dirty="0"/>
              <a:t>提出前に行うべき</a:t>
            </a:r>
          </a:p>
        </p:txBody>
      </p:sp>
    </p:spTree>
    <p:extLst>
      <p:ext uri="{BB962C8B-B14F-4D97-AF65-F5344CB8AC3E}">
        <p14:creationId xmlns:p14="http://schemas.microsoft.com/office/powerpoint/2010/main" val="141127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5DE71-39EB-4CB5-A29A-03B72A48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関数を作り始める前に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DBBC2A-18E1-4CDC-8DE0-8D78E5ABD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関数の役割</a:t>
            </a:r>
            <a:endParaRPr lang="en-US" altLang="ja-JP" dirty="0"/>
          </a:p>
          <a:p>
            <a:pPr lvl="1"/>
            <a:r>
              <a:rPr lang="ja-JP" altLang="en-US" dirty="0"/>
              <a:t>主なロジックを構成する関数</a:t>
            </a:r>
            <a:endParaRPr lang="en-US" altLang="ja-JP" dirty="0"/>
          </a:p>
          <a:p>
            <a:pPr lvl="1"/>
            <a:r>
              <a:rPr lang="ja-JP" altLang="en-US" dirty="0"/>
              <a:t>ヘルパー関数</a:t>
            </a:r>
            <a:endParaRPr lang="en-US" altLang="ja-JP" dirty="0"/>
          </a:p>
          <a:p>
            <a:pPr lvl="1"/>
            <a:r>
              <a:rPr lang="ja-JP" altLang="en-US" dirty="0"/>
              <a:t>ラッパー関数</a:t>
            </a:r>
            <a:endParaRPr lang="en-US" altLang="ja-JP" dirty="0"/>
          </a:p>
          <a:p>
            <a:pPr lvl="1"/>
            <a:r>
              <a:rPr lang="ja-JP" altLang="en-US" dirty="0"/>
              <a:t>テスト関数</a:t>
            </a:r>
            <a:endParaRPr lang="en-US" altLang="ja-JP" dirty="0"/>
          </a:p>
          <a:p>
            <a:r>
              <a:rPr lang="ja-JP" altLang="en-US" dirty="0"/>
              <a:t>関数のソース</a:t>
            </a:r>
            <a:endParaRPr lang="en-US" altLang="ja-JP" dirty="0"/>
          </a:p>
          <a:p>
            <a:pPr lvl="1"/>
            <a:r>
              <a:rPr lang="ja-JP" altLang="en-US" dirty="0"/>
              <a:t>内部利用限定の自作関数</a:t>
            </a:r>
            <a:endParaRPr lang="en-US" altLang="ja-JP" dirty="0"/>
          </a:p>
          <a:p>
            <a:pPr lvl="1"/>
            <a:r>
              <a:rPr lang="ja-JP" altLang="en-US" dirty="0"/>
              <a:t>外部利用可能な自作関数（</a:t>
            </a:r>
            <a:r>
              <a:rPr lang="en-US" altLang="ja-JP" dirty="0"/>
              <a:t>@export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インポートが必要な関数（</a:t>
            </a:r>
            <a:r>
              <a:rPr lang="en-US" altLang="ja-JP" dirty="0"/>
              <a:t>@</a:t>
            </a:r>
            <a:r>
              <a:rPr lang="en-US" altLang="ja-JP" dirty="0" err="1"/>
              <a:t>importFrom</a:t>
            </a:r>
            <a:r>
              <a:rPr lang="ja-JP" altLang="en-US" dirty="0"/>
              <a:t>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8294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267E40-B96D-4FB2-8F9C-A563E156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GPL</a:t>
            </a:r>
            <a:r>
              <a:rPr lang="ja-JP" altLang="en-US" dirty="0"/>
              <a:t>ライセンスと</a:t>
            </a:r>
            <a:r>
              <a:rPr lang="en-US" altLang="ja-JP" dirty="0"/>
              <a:t>MIT</a:t>
            </a:r>
            <a:r>
              <a:rPr lang="ja-JP" altLang="en-US" dirty="0"/>
              <a:t>ライセンス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F3CC64-5FDD-417F-8608-A45C7F74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GNU General Public License</a:t>
            </a:r>
          </a:p>
          <a:p>
            <a:pPr lvl="1"/>
            <a:r>
              <a:rPr lang="ja-JP" altLang="en-US" dirty="0"/>
              <a:t>思想</a:t>
            </a:r>
            <a:r>
              <a:rPr lang="en-US" altLang="ja-JP" dirty="0"/>
              <a:t>: </a:t>
            </a:r>
            <a:r>
              <a:rPr lang="ja-JP" altLang="en-US" dirty="0"/>
              <a:t>ソースコードの再利用・改変の自由を保証</a:t>
            </a:r>
            <a:endParaRPr lang="en-US" altLang="ja-JP" dirty="0"/>
          </a:p>
          <a:p>
            <a:pPr lvl="1"/>
            <a:r>
              <a:rPr lang="ja-JP" altLang="en-US" dirty="0"/>
              <a:t>商用利用は可能だが</a:t>
            </a:r>
            <a:r>
              <a:rPr lang="en-US" altLang="ja-JP" dirty="0"/>
              <a:t>, </a:t>
            </a:r>
            <a:r>
              <a:rPr lang="ja-JP" altLang="en-US" dirty="0"/>
              <a:t>ソースコード公開義務という制約が残る</a:t>
            </a:r>
            <a:endParaRPr lang="en-US" altLang="ja-JP" dirty="0"/>
          </a:p>
          <a:p>
            <a:r>
              <a:rPr lang="en-US" altLang="ja-JP" dirty="0"/>
              <a:t>MIT</a:t>
            </a:r>
            <a:r>
              <a:rPr lang="ja-JP" altLang="en-US" dirty="0"/>
              <a:t>ライセンス</a:t>
            </a:r>
            <a:endParaRPr lang="en-US" altLang="ja-JP" dirty="0"/>
          </a:p>
          <a:p>
            <a:pPr lvl="1"/>
            <a:r>
              <a:rPr lang="ja-JP" altLang="en-US" dirty="0"/>
              <a:t>思想</a:t>
            </a:r>
            <a:r>
              <a:rPr lang="en-US" altLang="ja-JP" dirty="0"/>
              <a:t>:</a:t>
            </a:r>
            <a:r>
              <a:rPr lang="ja-JP" altLang="en-US" dirty="0"/>
              <a:t> 寛容的で</a:t>
            </a:r>
            <a:r>
              <a:rPr lang="en-US" altLang="ja-JP" dirty="0"/>
              <a:t>, </a:t>
            </a:r>
            <a:r>
              <a:rPr lang="ja-JP" altLang="en-US" dirty="0"/>
              <a:t>義務は著作権表示と免責の保持のみ</a:t>
            </a:r>
            <a:endParaRPr lang="en-US" altLang="ja-JP" dirty="0"/>
          </a:p>
          <a:p>
            <a:r>
              <a:rPr kumimoji="1" lang="ja-JP" altLang="en-US" dirty="0"/>
              <a:t>たとえばパッケージ</a:t>
            </a:r>
            <a:r>
              <a:rPr kumimoji="1" lang="en-US" altLang="ja-JP" dirty="0" err="1"/>
              <a:t>modelsummary</a:t>
            </a:r>
            <a:r>
              <a:rPr kumimoji="1" lang="ja-JP" altLang="en-US" dirty="0"/>
              <a:t>は</a:t>
            </a:r>
            <a:r>
              <a:rPr kumimoji="1" lang="en-US" altLang="ja-JP" dirty="0"/>
              <a:t>GPL-3</a:t>
            </a:r>
            <a:r>
              <a:rPr kumimoji="1" lang="ja-JP" altLang="en-US" dirty="0" err="1"/>
              <a:t>なの</a:t>
            </a:r>
            <a:r>
              <a:rPr kumimoji="1" lang="ja-JP" altLang="en-US" dirty="0"/>
              <a:t>で</a:t>
            </a:r>
            <a:r>
              <a:rPr kumimoji="1" lang="en-US" altLang="ja-JP" dirty="0"/>
              <a:t>, </a:t>
            </a:r>
            <a:r>
              <a:rPr kumimoji="1" lang="ja-JP" altLang="en-US" dirty="0"/>
              <a:t>これを</a:t>
            </a:r>
            <a:r>
              <a:rPr lang="ja-JP" altLang="en-US" dirty="0"/>
              <a:t>内部で</a:t>
            </a:r>
            <a:r>
              <a:rPr kumimoji="1" lang="ja-JP" altLang="en-US" dirty="0"/>
              <a:t>使用すると</a:t>
            </a:r>
            <a:r>
              <a:rPr kumimoji="1" lang="en-US" altLang="ja-JP" dirty="0"/>
              <a:t>, </a:t>
            </a:r>
            <a:r>
              <a:rPr lang="ja-JP" altLang="en-US" dirty="0"/>
              <a:t>パッケージ</a:t>
            </a:r>
            <a:r>
              <a:rPr lang="en-US" altLang="ja-JP" dirty="0" err="1"/>
              <a:t>cifmodeling</a:t>
            </a:r>
            <a:r>
              <a:rPr lang="ja-JP" altLang="en-US" dirty="0"/>
              <a:t>も</a:t>
            </a:r>
            <a:r>
              <a:rPr lang="en-US" altLang="ja-JP" dirty="0"/>
              <a:t>GPL</a:t>
            </a:r>
            <a:r>
              <a:rPr lang="ja-JP" altLang="en-US" dirty="0"/>
              <a:t>相当にせざるを得ない</a:t>
            </a:r>
            <a:endParaRPr lang="en-US" altLang="ja-JP" dirty="0"/>
          </a:p>
          <a:p>
            <a:pPr lvl="1"/>
            <a:r>
              <a:rPr kumimoji="1" lang="ja-JP" altLang="en-US" dirty="0"/>
              <a:t>互換性のあるオブジェクトを出力する設計にしたのはそのため</a:t>
            </a:r>
          </a:p>
        </p:txBody>
      </p:sp>
    </p:spTree>
    <p:extLst>
      <p:ext uri="{BB962C8B-B14F-4D97-AF65-F5344CB8AC3E}">
        <p14:creationId xmlns:p14="http://schemas.microsoft.com/office/powerpoint/2010/main" val="351274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2DCC3E-7211-43CB-804F-DD0353CF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polyreg</a:t>
            </a:r>
            <a:r>
              <a:rPr kumimoji="1" lang="en-US" altLang="ja-JP" dirty="0"/>
              <a:t>()</a:t>
            </a:r>
            <a:r>
              <a:rPr kumimoji="1" lang="ja-JP" altLang="en-US" dirty="0"/>
              <a:t>のアップデート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9994E3-1AFC-4295-8A8B-BB1D81D8F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セミパラメトリックモデル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影響関数は未実装</a:t>
            </a:r>
            <a:endParaRPr kumimoji="1" lang="en-US" altLang="ja-JP" dirty="0"/>
          </a:p>
          <a:p>
            <a:pPr lvl="1"/>
            <a:r>
              <a:rPr lang="en-US" altLang="ja-JP" dirty="0" err="1"/>
              <a:t>outcome.type</a:t>
            </a:r>
            <a:r>
              <a:rPr lang="en-US" altLang="ja-JP" dirty="0"/>
              <a:t>: C, S, B, PROPORTIONAL-COMPETING-RISK, PROPORTIONAL-SURVIVAL</a:t>
            </a:r>
            <a:endParaRPr kumimoji="1" lang="en-US" altLang="ja-JP" dirty="0"/>
          </a:p>
          <a:p>
            <a:r>
              <a:rPr kumimoji="1" lang="ja-JP" altLang="en-US" dirty="0"/>
              <a:t>ブートストラップ</a:t>
            </a:r>
            <a:endParaRPr lang="en-US" altLang="ja-JP" dirty="0"/>
          </a:p>
          <a:p>
            <a:pPr lvl="1"/>
            <a:r>
              <a:rPr kumimoji="1" lang="en-US" altLang="ja-JP" dirty="0"/>
              <a:t>Boot(): </a:t>
            </a:r>
            <a:r>
              <a:rPr kumimoji="1" lang="en-US" altLang="ja-JP" dirty="0" err="1"/>
              <a:t>Bca</a:t>
            </a:r>
            <a:r>
              <a:rPr kumimoji="1" lang="ja-JP" altLang="en-US" dirty="0"/>
              <a:t>信頼区間</a:t>
            </a:r>
            <a:r>
              <a:rPr kumimoji="1" lang="en-US" altLang="ja-JP" dirty="0"/>
              <a:t>, </a:t>
            </a:r>
            <a:r>
              <a:rPr kumimoji="1" lang="ja-JP" altLang="en-US" dirty="0"/>
              <a:t>正規近似信頼区間</a:t>
            </a:r>
            <a:endParaRPr kumimoji="1" lang="en-US" altLang="ja-JP" dirty="0"/>
          </a:p>
          <a:p>
            <a:pPr lvl="1"/>
            <a:r>
              <a:rPr lang="en-US" altLang="ja-JP" dirty="0" err="1"/>
              <a:t>cov_wild_bootstrap</a:t>
            </a:r>
            <a:r>
              <a:rPr lang="en-US" altLang="ja-JP" dirty="0"/>
              <a:t>(): </a:t>
            </a:r>
            <a:r>
              <a:rPr kumimoji="1" lang="ja-JP" altLang="en-US" dirty="0"/>
              <a:t>ワイルドブートストラップ</a:t>
            </a:r>
            <a:r>
              <a:rPr kumimoji="1" lang="en-US" altLang="ja-JP" dirty="0"/>
              <a:t>+</a:t>
            </a:r>
            <a:r>
              <a:rPr kumimoji="1" lang="ja-JP" altLang="en-US" dirty="0"/>
              <a:t>影響関数による分散</a:t>
            </a:r>
            <a:endParaRPr kumimoji="1" lang="en-US" altLang="ja-JP" dirty="0"/>
          </a:p>
          <a:p>
            <a:r>
              <a:rPr lang="en-US" altLang="ja-JP" dirty="0"/>
              <a:t>Levenberg–Marquardt</a:t>
            </a:r>
            <a:r>
              <a:rPr lang="ja-JP" altLang="en-US" dirty="0"/>
              <a:t>法による高速化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5802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82E863-817E-4393-ADA4-0480E35C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主なロジックを構成する関数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2D0C04-0DA4-4950-BB2A-8300DD30A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重み</a:t>
            </a:r>
            <a:r>
              <a:rPr lang="en-US" altLang="ja-JP" dirty="0"/>
              <a:t>: </a:t>
            </a:r>
            <a:r>
              <a:rPr lang="en-US" altLang="ja-JP" dirty="0" err="1"/>
              <a:t>calculateIPCW</a:t>
            </a:r>
            <a:r>
              <a:rPr lang="en-US" altLang="ja-JP" dirty="0"/>
              <a:t>(), </a:t>
            </a:r>
            <a:r>
              <a:rPr lang="en-US" altLang="ja-JP" dirty="0" err="1"/>
              <a:t>calculateIPCWMatrix</a:t>
            </a:r>
            <a:endParaRPr lang="en-US" altLang="ja-JP" dirty="0"/>
          </a:p>
          <a:p>
            <a:r>
              <a:rPr lang="ja-JP" altLang="en-US" dirty="0"/>
              <a:t>推定</a:t>
            </a:r>
            <a:r>
              <a:rPr lang="en-US" altLang="ja-JP" dirty="0"/>
              <a:t>: </a:t>
            </a:r>
            <a:r>
              <a:rPr lang="en-US" altLang="ja-JP" dirty="0" err="1"/>
              <a:t>nleqslv</a:t>
            </a:r>
            <a:r>
              <a:rPr lang="en-US" altLang="ja-JP" dirty="0"/>
              <a:t>() + </a:t>
            </a:r>
            <a:r>
              <a:rPr lang="en-US" altLang="ja-JP" dirty="0" err="1"/>
              <a:t>estimating_equation_ipcw</a:t>
            </a:r>
            <a:r>
              <a:rPr lang="en-US" altLang="ja-JP" dirty="0"/>
              <a:t>() + </a:t>
            </a:r>
            <a:r>
              <a:rPr lang="en-US" altLang="ja-JP" dirty="0" err="1"/>
              <a:t>assessConvergence</a:t>
            </a:r>
            <a:r>
              <a:rPr lang="en-US" altLang="ja-JP" dirty="0"/>
              <a:t>()</a:t>
            </a:r>
          </a:p>
          <a:p>
            <a:r>
              <a:rPr lang="ja-JP" altLang="en-US" dirty="0"/>
              <a:t>分散</a:t>
            </a:r>
            <a:r>
              <a:rPr lang="en-US" altLang="ja-JP" dirty="0"/>
              <a:t>: </a:t>
            </a:r>
            <a:r>
              <a:rPr lang="en-US" altLang="ja-JP" dirty="0" err="1"/>
              <a:t>calculateCov</a:t>
            </a:r>
            <a:r>
              <a:rPr lang="en-US" altLang="ja-JP" dirty="0"/>
              <a:t>(), </a:t>
            </a:r>
            <a:r>
              <a:rPr lang="en-US" altLang="ja-JP" dirty="0" err="1"/>
              <a:t>calculateCovSurvival</a:t>
            </a:r>
            <a:r>
              <a:rPr lang="en-US" altLang="ja-JP" dirty="0"/>
              <a:t>()</a:t>
            </a:r>
          </a:p>
          <a:p>
            <a:r>
              <a:rPr lang="ja-JP" altLang="en-US" dirty="0"/>
              <a:t>出力</a:t>
            </a:r>
            <a:r>
              <a:rPr lang="en-US" altLang="ja-JP" dirty="0"/>
              <a:t>: </a:t>
            </a:r>
            <a:r>
              <a:rPr lang="en-US" altLang="ja-JP" dirty="0" err="1"/>
              <a:t>reportEffects</a:t>
            </a:r>
            <a:r>
              <a:rPr lang="en-US" altLang="ja-JP" dirty="0"/>
              <a:t>()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0410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1F6EB-D2A8-4438-B0D3-9B657EB7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ヘルパー関数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6BFC8F-298F-4CEA-8C66-538BA557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Event()</a:t>
            </a:r>
          </a:p>
          <a:p>
            <a:r>
              <a:rPr lang="en-US" altLang="ja-JP" dirty="0" err="1"/>
              <a:t>createAnalysisDataset</a:t>
            </a:r>
            <a:r>
              <a:rPr lang="en-US" altLang="ja-JP" dirty="0"/>
              <a:t>()</a:t>
            </a:r>
          </a:p>
          <a:p>
            <a:r>
              <a:rPr lang="en-US" altLang="ja-JP" dirty="0" err="1"/>
              <a:t>reg_read_exposure_design</a:t>
            </a:r>
            <a:r>
              <a:rPr lang="en-US" altLang="ja-JP" dirty="0"/>
              <a:t>()</a:t>
            </a:r>
          </a:p>
          <a:p>
            <a:r>
              <a:rPr lang="en-US" altLang="ja-JP" dirty="0" err="1"/>
              <a:t>reg_index_for_parameter</a:t>
            </a:r>
            <a:r>
              <a:rPr lang="en-US" altLang="ja-JP" dirty="0"/>
              <a:t>()</a:t>
            </a:r>
          </a:p>
          <a:p>
            <a:r>
              <a:rPr lang="en-US" altLang="ja-JP" dirty="0" err="1"/>
              <a:t>check_X</a:t>
            </a:r>
            <a:r>
              <a:rPr lang="en-US" altLang="ja-JP" dirty="0"/>
              <a:t>()</a:t>
            </a:r>
          </a:p>
          <a:p>
            <a:r>
              <a:rPr lang="en-US" altLang="ja-JP" dirty="0"/>
              <a:t>clamp(), </a:t>
            </a:r>
            <a:r>
              <a:rPr lang="en-US" altLang="ja-JP" dirty="0" err="1"/>
              <a:t>clampLogP</a:t>
            </a:r>
            <a:r>
              <a:rPr lang="en-US" altLang="ja-JP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41708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C3F6F-9F59-4FC9-B746-F5C54DD7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データハンドリングについて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02E340-6F87-4CC2-BDE1-A942B25C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ダミー変数の作成</a:t>
            </a:r>
            <a:r>
              <a:rPr lang="en-US" altLang="ja-JP" dirty="0"/>
              <a:t>: factor + </a:t>
            </a:r>
            <a:r>
              <a:rPr lang="en-US" altLang="ja-JP" dirty="0" err="1"/>
              <a:t>model.matrix</a:t>
            </a:r>
            <a:r>
              <a:rPr lang="en-US" altLang="ja-JP" dirty="0"/>
              <a:t>()</a:t>
            </a:r>
          </a:p>
          <a:p>
            <a:r>
              <a:rPr kumimoji="1" lang="ja-JP" altLang="en-US" dirty="0"/>
              <a:t>欠測の処理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na.action</a:t>
            </a:r>
            <a:r>
              <a:rPr kumimoji="1" lang="en-US" altLang="ja-JP" dirty="0"/>
              <a:t>()</a:t>
            </a:r>
          </a:p>
          <a:p>
            <a:r>
              <a:rPr kumimoji="1" lang="ja-JP" altLang="en-US" dirty="0"/>
              <a:t>モデルフォーミュラや上の関数は便利だが</a:t>
            </a:r>
            <a:r>
              <a:rPr kumimoji="1" lang="en-US" altLang="ja-JP" dirty="0"/>
              <a:t>, </a:t>
            </a:r>
            <a:r>
              <a:rPr kumimoji="1" lang="ja-JP" altLang="en-US" dirty="0"/>
              <a:t>専用の文法が必要</a:t>
            </a:r>
            <a:endParaRPr kumimoji="1" lang="en-US" altLang="ja-JP" dirty="0"/>
          </a:p>
          <a:p>
            <a:r>
              <a:rPr lang="ja-JP" altLang="en-US" dirty="0"/>
              <a:t>ヘルパー関数にまとめ</a:t>
            </a:r>
            <a:r>
              <a:rPr lang="en-US" altLang="ja-JP" dirty="0"/>
              <a:t>, </a:t>
            </a:r>
            <a:r>
              <a:rPr lang="en-US" altLang="ja-JP" dirty="0" err="1"/>
              <a:t>testthat</a:t>
            </a:r>
            <a:r>
              <a:rPr lang="en-US" altLang="ja-JP" dirty="0"/>
              <a:t>()</a:t>
            </a:r>
            <a:r>
              <a:rPr lang="ja-JP" altLang="en-US" dirty="0"/>
              <a:t>にかけて動作検証した</a:t>
            </a:r>
            <a:endParaRPr lang="en-US" altLang="ja-JP" dirty="0"/>
          </a:p>
          <a:p>
            <a:pPr lvl="1"/>
            <a:r>
              <a:rPr lang="en-US" altLang="ja-JP" dirty="0"/>
              <a:t>Event()</a:t>
            </a:r>
          </a:p>
          <a:p>
            <a:pPr lvl="1"/>
            <a:r>
              <a:rPr lang="en-US" altLang="ja-JP" dirty="0" err="1"/>
              <a:t>createAnalysisDataset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reg_read_exposure_design</a:t>
            </a:r>
            <a:r>
              <a:rPr lang="en-US" altLang="ja-JP" dirty="0"/>
              <a:t>()</a:t>
            </a:r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3495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2DCC3E-7211-43CB-804F-DD0353CF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パッケージ</a:t>
            </a:r>
            <a:r>
              <a:rPr kumimoji="1" lang="en-US" altLang="ja-JP" dirty="0" err="1"/>
              <a:t>cifmodeling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9994E3-1AFC-4295-8A8B-BB1D81D8F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polyreg</a:t>
            </a:r>
            <a:r>
              <a:rPr lang="en-US" altLang="ja-JP" dirty="0"/>
              <a:t>()</a:t>
            </a:r>
          </a:p>
          <a:p>
            <a:r>
              <a:rPr lang="en-US" altLang="ja-JP" dirty="0" err="1"/>
              <a:t>cifcurve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survfit</a:t>
            </a:r>
            <a:r>
              <a:rPr lang="ja-JP" altLang="en-US" dirty="0"/>
              <a:t>互換</a:t>
            </a:r>
            <a:r>
              <a:rPr lang="en-US" altLang="ja-JP" dirty="0"/>
              <a:t>, </a:t>
            </a:r>
            <a:r>
              <a:rPr lang="en-US" altLang="ja-JP" dirty="0" err="1"/>
              <a:t>Rcpp</a:t>
            </a:r>
            <a:r>
              <a:rPr lang="ja-JP" altLang="en-US" dirty="0"/>
              <a:t>による高速化</a:t>
            </a:r>
            <a:endParaRPr lang="en-US" altLang="ja-JP" dirty="0"/>
          </a:p>
          <a:p>
            <a:r>
              <a:rPr kumimoji="1" lang="en-US" altLang="ja-JP" dirty="0" err="1"/>
              <a:t>cifplot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/>
              <a:t>g</a:t>
            </a:r>
            <a:r>
              <a:rPr kumimoji="1" lang="en-US" altLang="ja-JP" dirty="0"/>
              <a:t>gplot2/</a:t>
            </a:r>
            <a:r>
              <a:rPr kumimoji="1" lang="en-US" altLang="ja-JP" dirty="0" err="1"/>
              <a:t>ggsurvfit</a:t>
            </a:r>
            <a:r>
              <a:rPr kumimoji="1" lang="ja-JP" altLang="en-US" dirty="0"/>
              <a:t>によるプロット</a:t>
            </a:r>
            <a:endParaRPr kumimoji="1" lang="en-US" altLang="ja-JP" dirty="0"/>
          </a:p>
          <a:p>
            <a:r>
              <a:rPr kumimoji="1" lang="en-US" altLang="ja-JP" dirty="0" err="1"/>
              <a:t>cifpanel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/>
              <a:t>p</a:t>
            </a:r>
            <a:r>
              <a:rPr kumimoji="1" lang="en-US" altLang="ja-JP" dirty="0"/>
              <a:t>atchwork()</a:t>
            </a:r>
            <a:r>
              <a:rPr kumimoji="1" lang="ja-JP" altLang="en-US" dirty="0"/>
              <a:t>によるパネル化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1869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7C31F5-A84D-48DF-B538-066121C58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2925"/>
            <a:ext cx="10515600" cy="56340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dirty="0" err="1"/>
              <a:t>cifpanel</a:t>
            </a:r>
            <a:r>
              <a:rPr lang="en-US" altLang="ja-JP" dirty="0"/>
              <a:t>(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title.panel</a:t>
            </a:r>
            <a:r>
              <a:rPr lang="en-US" altLang="ja-JP" dirty="0"/>
              <a:t> = "A comparison of cumulative incidence of competing events",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rows.columns.panel</a:t>
            </a:r>
            <a:r>
              <a:rPr lang="en-US" altLang="ja-JP" dirty="0"/>
              <a:t> = c(1,2),</a:t>
            </a:r>
          </a:p>
          <a:p>
            <a:pPr marL="0" indent="0">
              <a:buNone/>
            </a:pPr>
            <a:r>
              <a:rPr lang="en-US" altLang="ja-JP" dirty="0"/>
              <a:t>  formula = Event(t, epsilon) ~ </a:t>
            </a:r>
            <a:r>
              <a:rPr lang="en-US" altLang="ja-JP" dirty="0" err="1"/>
              <a:t>fruitq</a:t>
            </a:r>
            <a:r>
              <a:rPr lang="en-US" altLang="ja-JP" dirty="0"/>
              <a:t>,</a:t>
            </a:r>
          </a:p>
          <a:p>
            <a:pPr marL="0" indent="0">
              <a:buNone/>
            </a:pPr>
            <a:r>
              <a:rPr lang="en-US" altLang="ja-JP" dirty="0"/>
              <a:t>  data = </a:t>
            </a:r>
            <a:r>
              <a:rPr lang="en-US" altLang="ja-JP" dirty="0" err="1"/>
              <a:t>diabetes.complications</a:t>
            </a:r>
            <a:r>
              <a:rPr lang="en-US" altLang="ja-JP" dirty="0"/>
              <a:t>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outcome.type</a:t>
            </a:r>
            <a:r>
              <a:rPr lang="en-US" altLang="ja-JP" dirty="0"/>
              <a:t> = "COMPETING-RISK",</a:t>
            </a:r>
          </a:p>
          <a:p>
            <a:pPr marL="0" indent="0">
              <a:buNone/>
            </a:pPr>
            <a:r>
              <a:rPr lang="en-US" altLang="ja-JP" dirty="0">
                <a:solidFill>
                  <a:srgbClr val="FF0000"/>
                </a:solidFill>
              </a:rPr>
              <a:t>  </a:t>
            </a:r>
            <a:r>
              <a:rPr lang="en-US" altLang="ja-JP" dirty="0" err="1">
                <a:solidFill>
                  <a:srgbClr val="FF0000"/>
                </a:solidFill>
              </a:rPr>
              <a:t>code.events</a:t>
            </a:r>
            <a:r>
              <a:rPr lang="en-US" altLang="ja-JP" dirty="0">
                <a:solidFill>
                  <a:srgbClr val="FF0000"/>
                </a:solidFill>
              </a:rPr>
              <a:t> = list(c(1,2,0), c(2,1,0)),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label.y</a:t>
            </a:r>
            <a:r>
              <a:rPr lang="en-US" altLang="ja-JP" dirty="0"/>
              <a:t> = c("Diabetic retinopathy", "Macrovascular complications"),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label.x</a:t>
            </a:r>
            <a:r>
              <a:rPr lang="en-US" altLang="ja-JP" dirty="0"/>
              <a:t> = "Years from registration",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subtitle.panel</a:t>
            </a:r>
            <a:r>
              <a:rPr lang="en-US" altLang="ja-JP" dirty="0"/>
              <a:t> = "Stratified by fruit intake",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caption.panel</a:t>
            </a:r>
            <a:r>
              <a:rPr lang="en-US" altLang="ja-JP" dirty="0"/>
              <a:t>  = "Data: </a:t>
            </a:r>
            <a:r>
              <a:rPr lang="en-US" altLang="ja-JP" dirty="0" err="1"/>
              <a:t>diabetes.complications</a:t>
            </a:r>
            <a:r>
              <a:rPr lang="en-US" altLang="ja-JP" dirty="0"/>
              <a:t>",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title.plot</a:t>
            </a:r>
            <a:r>
              <a:rPr lang="en-US" altLang="ja-JP" dirty="0"/>
              <a:t> = c("Diabetic retinopathy", "Macrovascular complications"),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legend.position</a:t>
            </a:r>
            <a:r>
              <a:rPr lang="en-US" altLang="ja-JP" dirty="0"/>
              <a:t> = "bottom",</a:t>
            </a:r>
          </a:p>
          <a:p>
            <a:pPr marL="0" indent="0">
              <a:buNone/>
            </a:pPr>
            <a:r>
              <a:rPr lang="en-US" altLang="ja-JP" dirty="0"/>
              <a:t>  </a:t>
            </a:r>
            <a:r>
              <a:rPr lang="en-US" altLang="ja-JP" dirty="0" err="1"/>
              <a:t>legend.collect</a:t>
            </a:r>
            <a:r>
              <a:rPr lang="en-US" altLang="ja-JP" dirty="0"/>
              <a:t>=TRUE</a:t>
            </a:r>
          </a:p>
          <a:p>
            <a:pPr marL="0" indent="0">
              <a:buNone/>
            </a:pP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5324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24BF568-97D2-4A11-A0D5-44B079202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81" y="312020"/>
            <a:ext cx="11066237" cy="654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8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F27C1B-2404-4B1F-8F6D-D9578A8A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cifcurve</a:t>
            </a:r>
            <a:r>
              <a:rPr lang="en-US" altLang="ja-JP" dirty="0"/>
              <a:t>()</a:t>
            </a:r>
            <a:r>
              <a:rPr lang="ja-JP" altLang="en-US" dirty="0"/>
              <a:t>のロジックを構成する関数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8F19D0-C1C7-4A9D-A6B5-5D0172C5F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 err="1"/>
              <a:t>calculateKM</a:t>
            </a:r>
            <a:r>
              <a:rPr lang="en-US" altLang="ja-JP" dirty="0"/>
              <a:t>()</a:t>
            </a:r>
          </a:p>
          <a:p>
            <a:pPr lvl="1"/>
            <a:r>
              <a:rPr lang="ja-JP" altLang="en-US" dirty="0"/>
              <a:t>層別</a:t>
            </a:r>
            <a:r>
              <a:rPr lang="en-US" altLang="ja-JP" dirty="0"/>
              <a:t>Kaplan-Meier</a:t>
            </a:r>
            <a:r>
              <a:rPr lang="ja-JP" altLang="en-US" dirty="0"/>
              <a:t>推定量とその</a:t>
            </a:r>
            <a:r>
              <a:rPr lang="en-US" altLang="ja-JP" dirty="0"/>
              <a:t>SE</a:t>
            </a:r>
            <a:r>
              <a:rPr lang="ja-JP" altLang="en-US" dirty="0"/>
              <a:t>を計算する</a:t>
            </a:r>
            <a:r>
              <a:rPr lang="en-US" altLang="ja-JP" dirty="0" err="1"/>
              <a:t>Rcpp</a:t>
            </a:r>
            <a:r>
              <a:rPr lang="ja-JP" altLang="en-US" dirty="0"/>
              <a:t>関数</a:t>
            </a:r>
            <a:endParaRPr lang="en-US" altLang="ja-JP" dirty="0"/>
          </a:p>
          <a:p>
            <a:pPr lvl="1"/>
            <a:r>
              <a:rPr lang="en-US" altLang="ja-JP" dirty="0" err="1"/>
              <a:t>survfit</a:t>
            </a:r>
            <a:r>
              <a:rPr lang="ja-JP" altLang="en-US" dirty="0"/>
              <a:t>オブジェクトの文法に従う</a:t>
            </a:r>
            <a:endParaRPr lang="en-US" altLang="ja-JP" dirty="0"/>
          </a:p>
          <a:p>
            <a:r>
              <a:rPr lang="en-US" altLang="ja-JP" dirty="0" err="1"/>
              <a:t>calculateCI</a:t>
            </a:r>
            <a:r>
              <a:rPr lang="en-US" altLang="ja-JP" dirty="0"/>
              <a:t>()</a:t>
            </a:r>
          </a:p>
          <a:p>
            <a:pPr lvl="1"/>
            <a:r>
              <a:rPr lang="ja-JP" altLang="en-US" dirty="0"/>
              <a:t>信頼区間</a:t>
            </a:r>
            <a:endParaRPr lang="en-US" altLang="ja-JP" dirty="0"/>
          </a:p>
          <a:p>
            <a:pPr lvl="1"/>
            <a:r>
              <a:rPr lang="en-US" altLang="ja-JP" dirty="0" err="1"/>
              <a:t>survfit</a:t>
            </a:r>
            <a:r>
              <a:rPr lang="ja-JP" altLang="en-US" dirty="0"/>
              <a:t>オブジェクトの文法に従う</a:t>
            </a:r>
            <a:endParaRPr lang="en-US" altLang="ja-JP" dirty="0"/>
          </a:p>
          <a:p>
            <a:r>
              <a:rPr lang="en-US" altLang="ja-JP" dirty="0" err="1"/>
              <a:t>calculateAJ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calculateKM</a:t>
            </a:r>
            <a:r>
              <a:rPr lang="en-US" altLang="ja-JP" dirty="0"/>
              <a:t>()</a:t>
            </a:r>
            <a:r>
              <a:rPr lang="ja-JP" altLang="en-US" dirty="0"/>
              <a:t>を用いて層別</a:t>
            </a:r>
            <a:r>
              <a:rPr lang="en-US" altLang="ja-JP" dirty="0"/>
              <a:t>Aalen-Johansen</a:t>
            </a:r>
            <a:r>
              <a:rPr lang="ja-JP" altLang="en-US" dirty="0"/>
              <a:t>推定量を計算</a:t>
            </a:r>
            <a:endParaRPr lang="en-US" altLang="ja-JP" dirty="0"/>
          </a:p>
          <a:p>
            <a:r>
              <a:rPr lang="en-US" altLang="ja-JP" dirty="0" err="1"/>
              <a:t>calculateAalenDeltaSE</a:t>
            </a:r>
            <a:r>
              <a:rPr lang="en-US" altLang="ja-JP" dirty="0"/>
              <a:t>()</a:t>
            </a:r>
          </a:p>
          <a:p>
            <a:pPr lvl="1"/>
            <a:r>
              <a:rPr kumimoji="1" lang="en-US" altLang="ja-JP" dirty="0"/>
              <a:t>SE</a:t>
            </a:r>
            <a:r>
              <a:rPr kumimoji="1" lang="ja-JP" altLang="en-US" dirty="0"/>
              <a:t>の計算</a:t>
            </a:r>
          </a:p>
        </p:txBody>
      </p:sp>
    </p:spTree>
    <p:extLst>
      <p:ext uri="{BB962C8B-B14F-4D97-AF65-F5344CB8AC3E}">
        <p14:creationId xmlns:p14="http://schemas.microsoft.com/office/powerpoint/2010/main" val="173930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25439-09F3-4E2E-B4E2-1B63ED4E7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cifplot</a:t>
            </a:r>
            <a:r>
              <a:rPr lang="en-US" altLang="ja-JP" dirty="0"/>
              <a:t>()</a:t>
            </a:r>
            <a:r>
              <a:rPr lang="ja-JP" altLang="en-US" dirty="0"/>
              <a:t>のロジックを構成する関数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73CB70-23AE-4375-AFE6-21B34DD53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cifplot_single</a:t>
            </a:r>
            <a:r>
              <a:rPr lang="en-US" altLang="ja-JP" dirty="0"/>
              <a:t>()</a:t>
            </a:r>
          </a:p>
          <a:p>
            <a:pPr lvl="1"/>
            <a:r>
              <a:rPr lang="ja-JP" altLang="en-US" dirty="0"/>
              <a:t>引数を整理し</a:t>
            </a:r>
            <a:r>
              <a:rPr lang="en-US" altLang="ja-JP" dirty="0"/>
              <a:t>, </a:t>
            </a:r>
            <a:r>
              <a:rPr lang="en-US" altLang="ja-JP" dirty="0" err="1"/>
              <a:t>call_ggsurvfit</a:t>
            </a:r>
            <a:r>
              <a:rPr lang="en-US" altLang="ja-JP" dirty="0"/>
              <a:t>()</a:t>
            </a:r>
            <a:r>
              <a:rPr lang="ja-JP" altLang="en-US" dirty="0"/>
              <a:t>に渡す</a:t>
            </a:r>
            <a:endParaRPr lang="en-US" altLang="ja-JP" dirty="0"/>
          </a:p>
          <a:p>
            <a:r>
              <a:rPr lang="en-US" altLang="ja-JP" dirty="0" err="1"/>
              <a:t>call_ggsurvfit</a:t>
            </a:r>
            <a:r>
              <a:rPr lang="en-US" altLang="ja-JP" dirty="0"/>
              <a:t>()</a:t>
            </a:r>
          </a:p>
          <a:p>
            <a:pPr lvl="1"/>
            <a:r>
              <a:rPr lang="ja-JP" altLang="en-US" dirty="0"/>
              <a:t>プロットの指定に従って</a:t>
            </a:r>
            <a:r>
              <a:rPr lang="en-US" altLang="ja-JP" dirty="0" err="1"/>
              <a:t>ggsurvfit</a:t>
            </a:r>
            <a:r>
              <a:rPr lang="en-US" altLang="ja-JP" dirty="0"/>
              <a:t>()</a:t>
            </a:r>
            <a:r>
              <a:rPr lang="ja-JP" altLang="en-US" dirty="0"/>
              <a:t>を実行</a:t>
            </a:r>
            <a:endParaRPr lang="en-US" altLang="ja-JP" dirty="0"/>
          </a:p>
          <a:p>
            <a:r>
              <a:rPr lang="en-US" altLang="ja-JP" dirty="0" err="1"/>
              <a:t>check_ggsurvfit</a:t>
            </a:r>
            <a:r>
              <a:rPr lang="en-US" altLang="ja-JP" dirty="0"/>
              <a:t>()</a:t>
            </a:r>
          </a:p>
          <a:p>
            <a:pPr lvl="1"/>
            <a:r>
              <a:rPr lang="en-US" altLang="ja-JP" dirty="0" err="1"/>
              <a:t>call_ggsurvfit</a:t>
            </a:r>
            <a:r>
              <a:rPr lang="en-US" altLang="ja-JP" dirty="0"/>
              <a:t>()</a:t>
            </a:r>
            <a:r>
              <a:rPr lang="ja-JP" altLang="en-US" dirty="0"/>
              <a:t>の重い前処理</a:t>
            </a:r>
            <a:endParaRPr lang="en-US" altLang="ja-JP" dirty="0"/>
          </a:p>
          <a:p>
            <a:r>
              <a:rPr lang="en-US" altLang="ja-JP" dirty="0" err="1"/>
              <a:t>cifplot_printEachVar</a:t>
            </a:r>
            <a:r>
              <a:rPr lang="en-US" altLang="ja-JP" dirty="0"/>
              <a:t>()</a:t>
            </a:r>
          </a:p>
          <a:p>
            <a:pPr lvl="1"/>
            <a:r>
              <a:rPr lang="ja-JP" altLang="en-US" dirty="0"/>
              <a:t>引数を整理し</a:t>
            </a:r>
            <a:r>
              <a:rPr lang="en-US" altLang="ja-JP" dirty="0"/>
              <a:t>, </a:t>
            </a:r>
            <a:r>
              <a:rPr lang="en-US" altLang="ja-JP" dirty="0" err="1"/>
              <a:t>cifplot_single</a:t>
            </a:r>
            <a:r>
              <a:rPr lang="en-US" altLang="ja-JP" dirty="0"/>
              <a:t>()</a:t>
            </a:r>
            <a:r>
              <a:rPr lang="ja-JP" altLang="en-US" dirty="0"/>
              <a:t>を層別変数ごとに実行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056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096692-8EB2-40F4-A6CF-FF9BBBE0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cifpanel</a:t>
            </a:r>
            <a:r>
              <a:rPr kumimoji="1" lang="en-US" altLang="ja-JP" dirty="0"/>
              <a:t>()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A5D4EB-573F-4C3B-83EB-77404EB3A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cifcurve</a:t>
            </a:r>
            <a:r>
              <a:rPr lang="en-US" altLang="ja-JP" dirty="0"/>
              <a:t>()</a:t>
            </a:r>
            <a:r>
              <a:rPr lang="ja-JP" altLang="en-US" dirty="0"/>
              <a:t>と</a:t>
            </a:r>
            <a:r>
              <a:rPr lang="en-US" altLang="ja-JP" dirty="0"/>
              <a:t>patchwork</a:t>
            </a:r>
            <a:r>
              <a:rPr kumimoji="1" lang="en-US" altLang="ja-JP" dirty="0"/>
              <a:t>::</a:t>
            </a:r>
            <a:r>
              <a:rPr kumimoji="1" lang="en-US" altLang="ja-JP" dirty="0" err="1"/>
              <a:t>wrap_plots</a:t>
            </a:r>
            <a:r>
              <a:rPr kumimoji="1" lang="ja-JP" altLang="en-US" dirty="0"/>
              <a:t>のラッパー関数</a:t>
            </a:r>
            <a:endParaRPr kumimoji="1" lang="en-US" altLang="ja-JP" dirty="0"/>
          </a:p>
          <a:p>
            <a:r>
              <a:rPr lang="ja-JP" altLang="en-US" dirty="0"/>
              <a:t>ほとんどの処理は</a:t>
            </a:r>
            <a:r>
              <a:rPr lang="en-US" altLang="ja-JP" dirty="0"/>
              <a:t>, </a:t>
            </a:r>
            <a:r>
              <a:rPr lang="ja-JP" altLang="en-US" dirty="0"/>
              <a:t>線種・ラベル・軸などの指定をパネルに　反映させるためのもの</a:t>
            </a:r>
            <a:endParaRPr lang="en-US" altLang="ja-JP" dirty="0"/>
          </a:p>
          <a:p>
            <a:r>
              <a:rPr kumimoji="1" lang="ja-JP" altLang="en-US" dirty="0"/>
              <a:t>個別に</a:t>
            </a:r>
            <a:r>
              <a:rPr kumimoji="1" lang="en-US" altLang="ja-JP" dirty="0"/>
              <a:t>ggplot2</a:t>
            </a:r>
            <a:r>
              <a:rPr kumimoji="1" lang="ja-JP" altLang="en-US" dirty="0"/>
              <a:t>の文法に従ったヘルパー関数を用意して処理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618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F06F16-5F90-4EAE-AB79-D0F9DF9D4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最後に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8E7AAC-86CC-43F7-84C3-15589E39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</a:t>
            </a:r>
            <a:r>
              <a:rPr lang="ja-JP" altLang="en-US" dirty="0"/>
              <a:t>パッケージの</a:t>
            </a:r>
            <a:r>
              <a:rPr lang="en-US" altLang="ja-JP" dirty="0"/>
              <a:t>author</a:t>
            </a:r>
          </a:p>
          <a:p>
            <a:r>
              <a:rPr kumimoji="1" lang="ja-JP" altLang="en-US" dirty="0"/>
              <a:t>マニュアルのレビューとユーザー経験</a:t>
            </a:r>
            <a:r>
              <a:rPr lang="ja-JP" altLang="en-US" dirty="0"/>
              <a:t>のフィードバック</a:t>
            </a:r>
            <a:endParaRPr kumimoji="1" lang="en-US" altLang="ja-JP" dirty="0"/>
          </a:p>
          <a:p>
            <a:r>
              <a:rPr kumimoji="1" lang="ja-JP" altLang="en-US" dirty="0"/>
              <a:t>もしよければ</a:t>
            </a:r>
            <a:endParaRPr kumimoji="1" lang="en-US" altLang="ja-JP" dirty="0"/>
          </a:p>
          <a:p>
            <a:pPr lvl="1"/>
            <a:r>
              <a:rPr lang="ja-JP" altLang="en-US" dirty="0"/>
              <a:t>好みの表を生成する</a:t>
            </a:r>
            <a:r>
              <a:rPr lang="en-US" altLang="ja-JP" dirty="0"/>
              <a:t>summary</a:t>
            </a:r>
            <a:r>
              <a:rPr lang="ja-JP" altLang="en-US" dirty="0"/>
              <a:t>作成</a:t>
            </a:r>
            <a:endParaRPr lang="en-US" altLang="ja-JP" dirty="0"/>
          </a:p>
          <a:p>
            <a:pPr lvl="1"/>
            <a:r>
              <a:rPr kumimoji="1" lang="ja-JP" altLang="en-US" dirty="0"/>
              <a:t>好みのプロットを生成するスタイル作成</a:t>
            </a:r>
            <a:endParaRPr kumimoji="1" lang="en-US" altLang="ja-JP" dirty="0"/>
          </a:p>
          <a:p>
            <a:pPr lvl="1"/>
            <a:r>
              <a:rPr lang="en-US" altLang="ja-JP" dirty="0"/>
              <a:t>AJ</a:t>
            </a:r>
            <a:r>
              <a:rPr lang="ja-JP" altLang="en-US" dirty="0"/>
              <a:t>や</a:t>
            </a:r>
            <a:r>
              <a:rPr lang="en-US" altLang="ja-JP" dirty="0"/>
              <a:t>NA</a:t>
            </a:r>
            <a:r>
              <a:rPr lang="ja-JP" altLang="en-US" dirty="0"/>
              <a:t>推定量の影響関数を計算し</a:t>
            </a:r>
            <a:r>
              <a:rPr lang="en-US" altLang="ja-JP" dirty="0"/>
              <a:t>, </a:t>
            </a:r>
            <a:r>
              <a:rPr lang="ja-JP" altLang="en-US" dirty="0"/>
              <a:t>各種計算を行う</a:t>
            </a:r>
            <a:r>
              <a:rPr lang="en-US" altLang="ja-JP" dirty="0" err="1"/>
              <a:t>Rcpp</a:t>
            </a:r>
            <a:r>
              <a:rPr lang="ja-JP" altLang="en-US" dirty="0"/>
              <a:t>関数の実装</a:t>
            </a:r>
            <a:endParaRPr lang="en-US" altLang="ja-JP" dirty="0"/>
          </a:p>
          <a:p>
            <a:pPr lvl="1"/>
            <a:r>
              <a:rPr kumimoji="1" lang="ja-JP" altLang="en-US" dirty="0"/>
              <a:t>ブランチ分岐・コミット・マージ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3971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114454</TotalTime>
  <Words>1226</Words>
  <Application>Microsoft Office PowerPoint</Application>
  <PresentationFormat>ワイド画面</PresentationFormat>
  <Paragraphs>171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ＭＳ Ｐゴシック</vt:lpstr>
      <vt:lpstr>メイリオ</vt:lpstr>
      <vt:lpstr>Arial</vt:lpstr>
      <vt:lpstr>Calibri</vt:lpstr>
      <vt:lpstr>Office Theme</vt:lpstr>
      <vt:lpstr>Rパッケージ開発に有用なツール</vt:lpstr>
      <vt:lpstr>役に立ったアプローチ</vt:lpstr>
      <vt:lpstr>パッケージ作成とGitHub連携の手続き</vt:lpstr>
      <vt:lpstr>roxygen2</vt:lpstr>
      <vt:lpstr>roxygen2のヘッダー情報</vt:lpstr>
      <vt:lpstr>マニュアル作成</vt:lpstr>
      <vt:lpstr>testthat関数</vt:lpstr>
      <vt:lpstr>check関数</vt:lpstr>
      <vt:lpstr>関数を作り始める前に</vt:lpstr>
      <vt:lpstr>GPLライセンスとMITライセンス</vt:lpstr>
      <vt:lpstr>polyreg()のアップデート</vt:lpstr>
      <vt:lpstr>主なロジックを構成する関数</vt:lpstr>
      <vt:lpstr>ヘルパー関数</vt:lpstr>
      <vt:lpstr>データハンドリングについて</vt:lpstr>
      <vt:lpstr>パッケージcifmodeling</vt:lpstr>
      <vt:lpstr>PowerPoint プレゼンテーション</vt:lpstr>
      <vt:lpstr>PowerPoint プレゼンテーション</vt:lpstr>
      <vt:lpstr>cifcurve()のロジックを構成する関数</vt:lpstr>
      <vt:lpstr>cifplot()のロジックを構成する関数</vt:lpstr>
      <vt:lpstr>cifpanel()</vt:lpstr>
      <vt:lpstr>最後に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清水さやか</dc:creator>
  <cp:lastModifiedBy>Shiro</cp:lastModifiedBy>
  <cp:revision>3376</cp:revision>
  <cp:lastPrinted>2021-12-16T00:51:57Z</cp:lastPrinted>
  <dcterms:created xsi:type="dcterms:W3CDTF">2014-12-19T08:34:42Z</dcterms:created>
  <dcterms:modified xsi:type="dcterms:W3CDTF">2025-10-28T07:03:50Z</dcterms:modified>
</cp:coreProperties>
</file>